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eague Spartan" charset="1" panose="00000800000000000000"/>
      <p:regular r:id="rId16"/>
    </p:embeddedFont>
    <p:embeddedFont>
      <p:font typeface="Lovelo" charset="1" panose="02000000000000000000"/>
      <p:regular r:id="rId17"/>
    </p:embeddedFont>
    <p:embeddedFont>
      <p:font typeface="Open Sans" charset="1" panose="020B0606030504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9585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880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147155" y="2010210"/>
            <a:ext cx="6266580" cy="6266580"/>
          </a:xfrm>
          <a:custGeom>
            <a:avLst/>
            <a:gdLst/>
            <a:ahLst/>
            <a:cxnLst/>
            <a:rect r="r" b="b" t="t" l="l"/>
            <a:pathLst>
              <a:path h="6266580" w="6266580">
                <a:moveTo>
                  <a:pt x="0" y="0"/>
                </a:moveTo>
                <a:lnTo>
                  <a:pt x="6266579" y="0"/>
                </a:lnTo>
                <a:lnTo>
                  <a:pt x="6266579" y="6266580"/>
                </a:lnTo>
                <a:lnTo>
                  <a:pt x="0" y="62665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36034" y="4925018"/>
            <a:ext cx="11415932" cy="799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72"/>
              </a:lnSpc>
              <a:spcBef>
                <a:spcPct val="0"/>
              </a:spcBef>
            </a:pPr>
            <a:r>
              <a:rPr lang="en-US" sz="5600" spc="1657">
                <a:solidFill>
                  <a:srgbClr val="68806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NOMDEBTS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32462" y="8836025"/>
            <a:ext cx="1141593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429">
                <a:solidFill>
                  <a:srgbClr val="688066"/>
                </a:solidFill>
                <a:latin typeface="Lovelo"/>
                <a:ea typeface="Lovelo"/>
                <a:cs typeface="Lovelo"/>
                <a:sym typeface="Lovelo"/>
              </a:rPr>
              <a:t>Sebastián Chávez y Luis rivera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559958" y="6339476"/>
            <a:ext cx="5440974" cy="400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6"/>
              </a:lnSpc>
              <a:spcBef>
                <a:spcPct val="0"/>
              </a:spcBef>
            </a:pPr>
            <a:r>
              <a:rPr lang="en-US" sz="2411">
                <a:solidFill>
                  <a:srgbClr val="688066"/>
                </a:solidFill>
                <a:latin typeface="Open Sans"/>
                <a:ea typeface="Open Sans"/>
                <a:cs typeface="Open Sans"/>
                <a:sym typeface="Open Sans"/>
              </a:rPr>
              <a:t>Tu control financiero simple y accesible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73381" y="1028700"/>
            <a:ext cx="12785919" cy="5260260"/>
            <a:chOff x="0" y="0"/>
            <a:chExt cx="3367485" cy="1385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67485" cy="1385418"/>
            </a:xfrm>
            <a:custGeom>
              <a:avLst/>
              <a:gdLst/>
              <a:ahLst/>
              <a:cxnLst/>
              <a:rect r="r" b="b" t="t" l="l"/>
              <a:pathLst>
                <a:path h="1385418" w="3367485">
                  <a:moveTo>
                    <a:pt x="0" y="0"/>
                  </a:moveTo>
                  <a:lnTo>
                    <a:pt x="3367485" y="0"/>
                  </a:lnTo>
                  <a:lnTo>
                    <a:pt x="3367485" y="1385418"/>
                  </a:lnTo>
                  <a:lnTo>
                    <a:pt x="0" y="13854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68806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367485" cy="1423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2272683"/>
            <a:ext cx="14897122" cy="6532065"/>
            <a:chOff x="0" y="0"/>
            <a:chExt cx="3923522" cy="17203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23522" cy="1720379"/>
            </a:xfrm>
            <a:custGeom>
              <a:avLst/>
              <a:gdLst/>
              <a:ahLst/>
              <a:cxnLst/>
              <a:rect r="r" b="b" t="t" l="l"/>
              <a:pathLst>
                <a:path h="1720379" w="3923522">
                  <a:moveTo>
                    <a:pt x="0" y="0"/>
                  </a:moveTo>
                  <a:lnTo>
                    <a:pt x="3923522" y="0"/>
                  </a:lnTo>
                  <a:lnTo>
                    <a:pt x="3923522" y="1720379"/>
                  </a:lnTo>
                  <a:lnTo>
                    <a:pt x="0" y="1720379"/>
                  </a:lnTo>
                  <a:close/>
                </a:path>
              </a:pathLst>
            </a:custGeom>
            <a:solidFill>
              <a:srgbClr val="6880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923522" cy="175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471211" y="2674088"/>
            <a:ext cx="3256238" cy="3130059"/>
          </a:xfrm>
          <a:custGeom>
            <a:avLst/>
            <a:gdLst/>
            <a:ahLst/>
            <a:cxnLst/>
            <a:rect r="r" b="b" t="t" l="l"/>
            <a:pathLst>
              <a:path h="3130059" w="3256238">
                <a:moveTo>
                  <a:pt x="0" y="0"/>
                </a:moveTo>
                <a:lnTo>
                  <a:pt x="3256238" y="0"/>
                </a:lnTo>
                <a:lnTo>
                  <a:pt x="3256238" y="3130059"/>
                </a:lnTo>
                <a:lnTo>
                  <a:pt x="0" y="31300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702663"/>
            <a:ext cx="11394797" cy="6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4499" spc="1331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PROBLEMATICA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4186" y="4177135"/>
            <a:ext cx="10012155" cy="345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8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 el contexto nacional, un alto porcentaje de personas presenta dificultades para gestionar adecuadamente sus finanzas debido a:</a:t>
            </a:r>
          </a:p>
          <a:p>
            <a:pPr algn="l">
              <a:lnSpc>
                <a:spcPts val="3078"/>
              </a:lnSpc>
              <a:spcBef>
                <a:spcPct val="0"/>
              </a:spcBef>
            </a:pPr>
          </a:p>
          <a:p>
            <a:pPr algn="l">
              <a:lnSpc>
                <a:spcPts val="3078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Principales problemas detectados</a:t>
            </a:r>
          </a:p>
          <a:p>
            <a:pPr algn="l" marL="474791" indent="-237396" lvl="1">
              <a:lnSpc>
                <a:spcPts val="3078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Falta de herramientas simples y adaptadas a usuarios sin conocimientos financieros.</a:t>
            </a:r>
          </a:p>
          <a:p>
            <a:pPr algn="l" marL="474791" indent="-237396" lvl="1">
              <a:lnSpc>
                <a:spcPts val="3078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Dependencia de apps bancarias complejas o poco intuitivas.</a:t>
            </a:r>
          </a:p>
          <a:p>
            <a:pPr algn="l" marL="474791" indent="-237396" lvl="1">
              <a:lnSpc>
                <a:spcPts val="3078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Ausencia de alertas que adviertan sobre sobreendeudamiento.</a:t>
            </a:r>
          </a:p>
          <a:p>
            <a:pPr algn="l" marL="474791" indent="-237396" lvl="1">
              <a:lnSpc>
                <a:spcPts val="3078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Baja capacidad de visualizar patrones de consumo o gastos ocultos.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4291" y="2376295"/>
            <a:ext cx="16619419" cy="7308825"/>
            <a:chOff x="0" y="0"/>
            <a:chExt cx="4377131" cy="19249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7131" cy="1924958"/>
            </a:xfrm>
            <a:custGeom>
              <a:avLst/>
              <a:gdLst/>
              <a:ahLst/>
              <a:cxnLst/>
              <a:rect r="r" b="b" t="t" l="l"/>
              <a:pathLst>
                <a:path h="1924958" w="4377131">
                  <a:moveTo>
                    <a:pt x="0" y="0"/>
                  </a:moveTo>
                  <a:lnTo>
                    <a:pt x="4377131" y="0"/>
                  </a:lnTo>
                  <a:lnTo>
                    <a:pt x="4377131" y="1924958"/>
                  </a:lnTo>
                  <a:lnTo>
                    <a:pt x="0" y="19249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68806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77131" cy="1963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660091" y="578556"/>
            <a:ext cx="15035243" cy="6926815"/>
            <a:chOff x="0" y="0"/>
            <a:chExt cx="3959899" cy="18243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59899" cy="1824346"/>
            </a:xfrm>
            <a:custGeom>
              <a:avLst/>
              <a:gdLst/>
              <a:ahLst/>
              <a:cxnLst/>
              <a:rect r="r" b="b" t="t" l="l"/>
              <a:pathLst>
                <a:path h="1824346" w="3959899">
                  <a:moveTo>
                    <a:pt x="0" y="0"/>
                  </a:moveTo>
                  <a:lnTo>
                    <a:pt x="3959899" y="0"/>
                  </a:lnTo>
                  <a:lnTo>
                    <a:pt x="3959899" y="1824346"/>
                  </a:lnTo>
                  <a:lnTo>
                    <a:pt x="0" y="1824346"/>
                  </a:lnTo>
                  <a:close/>
                </a:path>
              </a:pathLst>
            </a:custGeom>
            <a:solidFill>
              <a:srgbClr val="6880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959899" cy="1862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387741" y="3446751"/>
            <a:ext cx="10830353" cy="3699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NomDebts es una aplicación móvil que permite: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Registrar ingresos y gastos de forma simple y rápida.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Clasificar movimientos por categoría.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Visualizar reportes gráficos de consumo.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Exportar datos financieros a Excel/PDF.</a:t>
            </a:r>
          </a:p>
          <a:p>
            <a:pPr algn="l">
              <a:lnSpc>
                <a:spcPts val="2939"/>
              </a:lnSpc>
            </a:pP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Beneficios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Mejora el control financiero diario.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Ofrece información clara para la toma de decisiones.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Reduce el riesgo de sobreendeudamiento.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116477" y="2715722"/>
            <a:ext cx="4220308" cy="4114800"/>
          </a:xfrm>
          <a:custGeom>
            <a:avLst/>
            <a:gdLst/>
            <a:ahLst/>
            <a:cxnLst/>
            <a:rect r="r" b="b" t="t" l="l"/>
            <a:pathLst>
              <a:path h="4114800" w="4220308">
                <a:moveTo>
                  <a:pt x="0" y="0"/>
                </a:moveTo>
                <a:lnTo>
                  <a:pt x="4220308" y="0"/>
                </a:lnTo>
                <a:lnTo>
                  <a:pt x="42203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387741" y="1422228"/>
            <a:ext cx="10838889" cy="1293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4499" spc="1331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¿NUESTRA SOLUCION? NOMDEBTS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2379" y="1371929"/>
            <a:ext cx="16206465" cy="7886371"/>
            <a:chOff x="0" y="0"/>
            <a:chExt cx="4268369" cy="20770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68369" cy="2077069"/>
            </a:xfrm>
            <a:custGeom>
              <a:avLst/>
              <a:gdLst/>
              <a:ahLst/>
              <a:cxnLst/>
              <a:rect r="r" b="b" t="t" l="l"/>
              <a:pathLst>
                <a:path h="2077069" w="4268369">
                  <a:moveTo>
                    <a:pt x="0" y="0"/>
                  </a:moveTo>
                  <a:lnTo>
                    <a:pt x="4268369" y="0"/>
                  </a:lnTo>
                  <a:lnTo>
                    <a:pt x="4268369" y="2077069"/>
                  </a:lnTo>
                  <a:lnTo>
                    <a:pt x="0" y="2077069"/>
                  </a:lnTo>
                  <a:close/>
                </a:path>
              </a:pathLst>
            </a:custGeom>
            <a:solidFill>
              <a:srgbClr val="6880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68369" cy="2115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66157" y="3849020"/>
            <a:ext cx="11394797" cy="392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Contribuye a la educación financiera en públicos que carecen de herramientas comprensibles.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Tiene alto potencial de adopción, especialmente en estudiantes y trabajadores jóvenes.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 alinea con competencias disciplinares de ingeniería: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Desarrollo móvil.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Modelado de datos.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Gestión de proyectos tecnológicos.</a:t>
            </a: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759267" y="421498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04824" y="2049424"/>
            <a:ext cx="11394797" cy="1293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4499" spc="1331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RELEVANCIA DEL PROYECTO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73623" y="1028700"/>
            <a:ext cx="5725814" cy="7308825"/>
            <a:chOff x="0" y="0"/>
            <a:chExt cx="1508033" cy="19249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08033" cy="1924958"/>
            </a:xfrm>
            <a:custGeom>
              <a:avLst/>
              <a:gdLst/>
              <a:ahLst/>
              <a:cxnLst/>
              <a:rect r="r" b="b" t="t" l="l"/>
              <a:pathLst>
                <a:path h="1924958" w="1508033">
                  <a:moveTo>
                    <a:pt x="0" y="0"/>
                  </a:moveTo>
                  <a:lnTo>
                    <a:pt x="1508033" y="0"/>
                  </a:lnTo>
                  <a:lnTo>
                    <a:pt x="1508033" y="1924958"/>
                  </a:lnTo>
                  <a:lnTo>
                    <a:pt x="0" y="19249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68806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08033" cy="1963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53600" y="615115"/>
            <a:ext cx="6410298" cy="1139283"/>
            <a:chOff x="0" y="0"/>
            <a:chExt cx="1688309" cy="3000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88309" cy="300058"/>
            </a:xfrm>
            <a:custGeom>
              <a:avLst/>
              <a:gdLst/>
              <a:ahLst/>
              <a:cxnLst/>
              <a:rect r="r" b="b" t="t" l="l"/>
              <a:pathLst>
                <a:path h="300058" w="1688309">
                  <a:moveTo>
                    <a:pt x="0" y="0"/>
                  </a:moveTo>
                  <a:lnTo>
                    <a:pt x="1688309" y="0"/>
                  </a:lnTo>
                  <a:lnTo>
                    <a:pt x="1688309" y="300058"/>
                  </a:lnTo>
                  <a:lnTo>
                    <a:pt x="0" y="300058"/>
                  </a:lnTo>
                  <a:close/>
                </a:path>
              </a:pathLst>
            </a:custGeom>
            <a:solidFill>
              <a:srgbClr val="6880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88309" cy="338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29120" y="871385"/>
            <a:ext cx="5481177" cy="6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4499" spc="1331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OBJETIVOS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702424" y="2430262"/>
            <a:ext cx="15035243" cy="6828038"/>
            <a:chOff x="0" y="0"/>
            <a:chExt cx="3959899" cy="17983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59899" cy="1798331"/>
            </a:xfrm>
            <a:custGeom>
              <a:avLst/>
              <a:gdLst/>
              <a:ahLst/>
              <a:cxnLst/>
              <a:rect r="r" b="b" t="t" l="l"/>
              <a:pathLst>
                <a:path h="1798331" w="3959899">
                  <a:moveTo>
                    <a:pt x="0" y="0"/>
                  </a:moveTo>
                  <a:lnTo>
                    <a:pt x="3959899" y="0"/>
                  </a:lnTo>
                  <a:lnTo>
                    <a:pt x="3959899" y="1798331"/>
                  </a:lnTo>
                  <a:lnTo>
                    <a:pt x="0" y="1798331"/>
                  </a:lnTo>
                  <a:close/>
                </a:path>
              </a:pathLst>
            </a:custGeom>
            <a:solidFill>
              <a:srgbClr val="68806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959899" cy="1836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558749" y="4473363"/>
            <a:ext cx="11125906" cy="351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Objetivo General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Desarrollar una aplicación móvil capaz de gestionar ingresos y gastos de forma sencilla, visual y accesible.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Objetivos Específicos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Diseñar una interfaz intuitiva y centrada en el usuario.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Implementar una base de datos local para persistencia.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Incorporar reportes gráficos y estadísticas financieras.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Integrar notificaciones y alertas preventivas.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Validar la app mediante pruebas de usabilidad.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4007321" y="5143500"/>
            <a:ext cx="2894189" cy="2894189"/>
          </a:xfrm>
          <a:custGeom>
            <a:avLst/>
            <a:gdLst/>
            <a:ahLst/>
            <a:cxnLst/>
            <a:rect r="r" b="b" t="t" l="l"/>
            <a:pathLst>
              <a:path h="2894189" w="2894189">
                <a:moveTo>
                  <a:pt x="0" y="0"/>
                </a:moveTo>
                <a:lnTo>
                  <a:pt x="2894189" y="0"/>
                </a:lnTo>
                <a:lnTo>
                  <a:pt x="2894189" y="2894189"/>
                </a:lnTo>
                <a:lnTo>
                  <a:pt x="0" y="28941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27345" y="3416794"/>
            <a:ext cx="15897130" cy="6785788"/>
            <a:chOff x="0" y="0"/>
            <a:chExt cx="4186898" cy="1787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86898" cy="1787203"/>
            </a:xfrm>
            <a:custGeom>
              <a:avLst/>
              <a:gdLst/>
              <a:ahLst/>
              <a:cxnLst/>
              <a:rect r="r" b="b" t="t" l="l"/>
              <a:pathLst>
                <a:path h="1787203" w="4186898">
                  <a:moveTo>
                    <a:pt x="0" y="0"/>
                  </a:moveTo>
                  <a:lnTo>
                    <a:pt x="4186898" y="0"/>
                  </a:lnTo>
                  <a:lnTo>
                    <a:pt x="4186898" y="1787203"/>
                  </a:lnTo>
                  <a:lnTo>
                    <a:pt x="0" y="17872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68806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86898" cy="182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949514" y="600592"/>
            <a:ext cx="15543243" cy="9085815"/>
            <a:chOff x="0" y="0"/>
            <a:chExt cx="4093694" cy="23929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93694" cy="2392972"/>
            </a:xfrm>
            <a:custGeom>
              <a:avLst/>
              <a:gdLst/>
              <a:ahLst/>
              <a:cxnLst/>
              <a:rect r="r" b="b" t="t" l="l"/>
              <a:pathLst>
                <a:path h="2392972" w="4093694">
                  <a:moveTo>
                    <a:pt x="0" y="0"/>
                  </a:moveTo>
                  <a:lnTo>
                    <a:pt x="4093694" y="0"/>
                  </a:lnTo>
                  <a:lnTo>
                    <a:pt x="4093694" y="2392972"/>
                  </a:lnTo>
                  <a:lnTo>
                    <a:pt x="0" y="2392972"/>
                  </a:lnTo>
                  <a:close/>
                </a:path>
              </a:pathLst>
            </a:custGeom>
            <a:solidFill>
              <a:srgbClr val="6880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93694" cy="243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057275"/>
            <a:ext cx="11394797" cy="6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4499" spc="1331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CASOS DE USO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7761" y="3526861"/>
            <a:ext cx="4253089" cy="438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Actor: Usuario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Descripción: Permite ingresar un gasto dentro de una categoría definida.</a:t>
            </a: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flujo principal:</a:t>
            </a:r>
          </a:p>
          <a:p>
            <a:pPr algn="l" marL="388620" indent="-194310" lvl="1">
              <a:lnSpc>
                <a:spcPts val="2520"/>
              </a:lnSpc>
              <a:buAutoNum type="arabicPeriod" startAt="1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usuario accede a “Registrar gasto”.</a:t>
            </a:r>
          </a:p>
          <a:p>
            <a:pPr algn="l" marL="388620" indent="-194310" lvl="1">
              <a:lnSpc>
                <a:spcPts val="2520"/>
              </a:lnSpc>
              <a:buAutoNum type="arabicPeriod" startAt="1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Ingresa monto, categoría, fecha y descripción.</a:t>
            </a:r>
          </a:p>
          <a:p>
            <a:pPr algn="l" marL="388620" indent="-194310" lvl="1">
              <a:lnSpc>
                <a:spcPts val="2520"/>
              </a:lnSpc>
              <a:buAutoNum type="arabicPeriod" startAt="1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Guarda el registro.</a:t>
            </a:r>
          </a:p>
          <a:p>
            <a:pPr algn="l" marL="388620" indent="-194310" lvl="1">
              <a:lnSpc>
                <a:spcPts val="2520"/>
              </a:lnSpc>
              <a:buAutoNum type="arabicPeriod" startAt="1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sistema actualiza el presupuesto mensual y estadísticas.</a:t>
            </a:r>
          </a:p>
          <a:p>
            <a:pPr algn="l" marL="388620" indent="-194310" lvl="1">
              <a:lnSpc>
                <a:spcPts val="2520"/>
              </a:lnSpc>
              <a:buAutoNum type="arabicPeriod" startAt="1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 muestra confirmación.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Resultado: El gasto queda almacenado y visible en los reportes.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34407" y="2864090"/>
            <a:ext cx="3139797" cy="552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8"/>
              </a:lnSpc>
              <a:spcBef>
                <a:spcPct val="0"/>
              </a:spcBef>
            </a:pPr>
            <a:r>
              <a:rPr lang="en-US" sz="1900" spc="562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REGISTRAR UN GASTO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06011" y="2014601"/>
            <a:ext cx="3139797" cy="552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8"/>
              </a:lnSpc>
              <a:spcBef>
                <a:spcPct val="0"/>
              </a:spcBef>
            </a:pPr>
            <a:r>
              <a:rPr lang="en-US" sz="1900" spc="562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REGISTRAR UN GASTO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44754" y="2741048"/>
            <a:ext cx="4662311" cy="5955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Actor: Usuario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Descripción: Permite crear un recordatorio de pago con información básica.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Flujo principal:</a:t>
            </a:r>
          </a:p>
          <a:p>
            <a:pPr algn="l" marL="388620" indent="-194310" lvl="1">
              <a:lnSpc>
                <a:spcPts val="2520"/>
              </a:lnSpc>
              <a:buAutoNum type="arabicPeriod" startAt="1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usuario accede al apartado “Recordatorios”.</a:t>
            </a:r>
          </a:p>
          <a:p>
            <a:pPr algn="l" marL="388620" indent="-194310" lvl="1">
              <a:lnSpc>
                <a:spcPts val="2520"/>
              </a:lnSpc>
              <a:buAutoNum type="arabicPeriod" startAt="1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Selecciona el signo “+” en la esquina superior derecha</a:t>
            </a:r>
          </a:p>
          <a:p>
            <a:pPr algn="l" marL="388620" indent="-194310" lvl="1">
              <a:lnSpc>
                <a:spcPts val="2520"/>
              </a:lnSpc>
              <a:buAutoNum type="arabicPeriod" startAt="1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Ingresa un título.</a:t>
            </a:r>
          </a:p>
          <a:p>
            <a:pPr algn="l" marL="388620" indent="-194310" lvl="1">
              <a:lnSpc>
                <a:spcPts val="2520"/>
              </a:lnSpc>
              <a:buAutoNum type="arabicPeriod" startAt="1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(Opcional) Ingresa una descripción.</a:t>
            </a:r>
          </a:p>
          <a:p>
            <a:pPr algn="l" marL="388620" indent="-194310" lvl="1">
              <a:lnSpc>
                <a:spcPts val="2520"/>
              </a:lnSpc>
              <a:buAutoNum type="arabicPeriod" startAt="1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Ingresa el monto a pagar.</a:t>
            </a:r>
          </a:p>
          <a:p>
            <a:pPr algn="l" marL="388620" indent="-194310" lvl="1">
              <a:lnSpc>
                <a:spcPts val="2520"/>
              </a:lnSpc>
              <a:buAutoNum type="arabicPeriod" startAt="1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Selecciona la fecha del pago.</a:t>
            </a:r>
          </a:p>
          <a:p>
            <a:pPr algn="l" marL="388620" indent="-194310" lvl="1">
              <a:lnSpc>
                <a:spcPts val="2520"/>
              </a:lnSpc>
              <a:buAutoNum type="arabicPeriod" startAt="1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crea el recordatorio.</a:t>
            </a:r>
          </a:p>
          <a:p>
            <a:pPr algn="l" marL="388620" indent="-194310" lvl="1">
              <a:lnSpc>
                <a:spcPts val="2520"/>
              </a:lnSpc>
              <a:buAutoNum type="arabicPeriod" startAt="1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sistema almacena la información y actualiza la lista de recordatorios.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Resultado: El recordatorio queda registrado y disponible para generar alertas futuras.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5033" y="473592"/>
            <a:ext cx="16206465" cy="9339815"/>
            <a:chOff x="0" y="0"/>
            <a:chExt cx="4268369" cy="24598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68369" cy="2459869"/>
            </a:xfrm>
            <a:custGeom>
              <a:avLst/>
              <a:gdLst/>
              <a:ahLst/>
              <a:cxnLst/>
              <a:rect r="r" b="b" t="t" l="l"/>
              <a:pathLst>
                <a:path h="2459869" w="4268369">
                  <a:moveTo>
                    <a:pt x="0" y="0"/>
                  </a:moveTo>
                  <a:lnTo>
                    <a:pt x="4268369" y="0"/>
                  </a:lnTo>
                  <a:lnTo>
                    <a:pt x="4268369" y="2459869"/>
                  </a:lnTo>
                  <a:lnTo>
                    <a:pt x="0" y="2459869"/>
                  </a:lnTo>
                  <a:close/>
                </a:path>
              </a:pathLst>
            </a:custGeom>
            <a:solidFill>
              <a:srgbClr val="6880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68369" cy="2497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50462" y="1807848"/>
            <a:ext cx="11906115" cy="878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Frontend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Framework: Ionic / Angular.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Rol: interfaz gráfica, navegación, entrada de datos, visualización de reportes.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Comunicación con backend mediante HTTP requests (REST).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Backend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Tecnología: Flask (Python).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Función principal: implementar los servicios REST que procesan la lógica de negocio.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Responsabilidades del Backend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Validación de datos.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Gest</a:t>
            </a: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ión de ingresos y gastos (CRUD).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Cálculo de presupuestos y alertas.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Construcción de reportes estadísticos.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Base de Datos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Motor: MySQL.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Modelo relacional basado en tablas: usuarios, ingresos, gastos, categorías, presupuestos.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Seguridad mediante integridad referencial (FK) y restricciones.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Herramienta Visual 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MySQL Workbench: se utiliza para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diseño del modelo entidad-relación,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creación de tablas,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consultas SQL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validación estructural.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488465" y="2113601"/>
            <a:ext cx="3502724" cy="4114800"/>
          </a:xfrm>
          <a:custGeom>
            <a:avLst/>
            <a:gdLst/>
            <a:ahLst/>
            <a:cxnLst/>
            <a:rect r="r" b="b" t="t" l="l"/>
            <a:pathLst>
              <a:path h="4114800" w="3502724">
                <a:moveTo>
                  <a:pt x="0" y="0"/>
                </a:moveTo>
                <a:lnTo>
                  <a:pt x="3502724" y="0"/>
                </a:lnTo>
                <a:lnTo>
                  <a:pt x="35027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50462" y="803275"/>
            <a:ext cx="12904686" cy="6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4499" spc="1331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ARQUITECTURA DEL PROYECTO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5906" y="685259"/>
            <a:ext cx="15148132" cy="8464927"/>
            <a:chOff x="0" y="0"/>
            <a:chExt cx="3989631" cy="22294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89631" cy="2229446"/>
            </a:xfrm>
            <a:custGeom>
              <a:avLst/>
              <a:gdLst/>
              <a:ahLst/>
              <a:cxnLst/>
              <a:rect r="r" b="b" t="t" l="l"/>
              <a:pathLst>
                <a:path h="2229446" w="3989631">
                  <a:moveTo>
                    <a:pt x="0" y="0"/>
                  </a:moveTo>
                  <a:lnTo>
                    <a:pt x="3989631" y="0"/>
                  </a:lnTo>
                  <a:lnTo>
                    <a:pt x="3989631" y="2229446"/>
                  </a:lnTo>
                  <a:lnTo>
                    <a:pt x="0" y="2229446"/>
                  </a:lnTo>
                  <a:close/>
                </a:path>
              </a:pathLst>
            </a:custGeom>
            <a:solidFill>
              <a:srgbClr val="6880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89631" cy="2267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19795" y="3529404"/>
            <a:ext cx="11906115" cy="4697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Metodología utilizada: SCRUM, con sprints semanales y entregas incrementales.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Etapas Ejecutadas (Todas Completadas):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Sprint 1: Requisitos y prototipado (mockups).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Sprint 2: Arquitectura y modelo de datos (MySQL + Flask).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Sprint 3: CRUD de ingresos y gastos.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Sprint 4: Recordatorios y alertas.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Sprint 5: Reportes y gráficos.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Sprint 6: Exportación a Excel/PDF.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Sprint 7: Pruebas de usabilidad y mejoras finales.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Etapa Pendiente: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Video demostrativo del funcionamiento completo.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573933" y="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19795" y="1593497"/>
            <a:ext cx="9010019" cy="1293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4499" spc="1331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METODOLOGÍA DE TRABAJO – SCRUM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28567" y="2850126"/>
            <a:ext cx="15897130" cy="6785788"/>
            <a:chOff x="0" y="0"/>
            <a:chExt cx="4186898" cy="1787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86898" cy="1787203"/>
            </a:xfrm>
            <a:custGeom>
              <a:avLst/>
              <a:gdLst/>
              <a:ahLst/>
              <a:cxnLst/>
              <a:rect r="r" b="b" t="t" l="l"/>
              <a:pathLst>
                <a:path h="1787203" w="4186898">
                  <a:moveTo>
                    <a:pt x="0" y="0"/>
                  </a:moveTo>
                  <a:lnTo>
                    <a:pt x="4186898" y="0"/>
                  </a:lnTo>
                  <a:lnTo>
                    <a:pt x="4186898" y="1787203"/>
                  </a:lnTo>
                  <a:lnTo>
                    <a:pt x="0" y="17872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68806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86898" cy="182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5035243" cy="8690704"/>
            <a:chOff x="0" y="0"/>
            <a:chExt cx="3959899" cy="22889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59899" cy="2288910"/>
            </a:xfrm>
            <a:custGeom>
              <a:avLst/>
              <a:gdLst/>
              <a:ahLst/>
              <a:cxnLst/>
              <a:rect r="r" b="b" t="t" l="l"/>
              <a:pathLst>
                <a:path h="2288910" w="3959899">
                  <a:moveTo>
                    <a:pt x="0" y="0"/>
                  </a:moveTo>
                  <a:lnTo>
                    <a:pt x="3959899" y="0"/>
                  </a:lnTo>
                  <a:lnTo>
                    <a:pt x="3959899" y="2288910"/>
                  </a:lnTo>
                  <a:lnTo>
                    <a:pt x="0" y="2288910"/>
                  </a:lnTo>
                  <a:close/>
                </a:path>
              </a:pathLst>
            </a:custGeom>
            <a:solidFill>
              <a:srgbClr val="6880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959899" cy="2327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19820" y="715328"/>
            <a:ext cx="11394797" cy="6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4499" spc="1331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EVIDENCIAS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851894" y="1867358"/>
            <a:ext cx="2840555" cy="5739081"/>
          </a:xfrm>
          <a:custGeom>
            <a:avLst/>
            <a:gdLst/>
            <a:ahLst/>
            <a:cxnLst/>
            <a:rect r="r" b="b" t="t" l="l"/>
            <a:pathLst>
              <a:path h="5739081" w="2840555">
                <a:moveTo>
                  <a:pt x="0" y="0"/>
                </a:moveTo>
                <a:lnTo>
                  <a:pt x="2840555" y="0"/>
                </a:lnTo>
                <a:lnTo>
                  <a:pt x="2840555" y="5739081"/>
                </a:lnTo>
                <a:lnTo>
                  <a:pt x="0" y="5739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583192" y="1865036"/>
            <a:ext cx="3085838" cy="5727501"/>
          </a:xfrm>
          <a:custGeom>
            <a:avLst/>
            <a:gdLst/>
            <a:ahLst/>
            <a:cxnLst/>
            <a:rect r="r" b="b" t="t" l="l"/>
            <a:pathLst>
              <a:path h="5727501" w="3085838">
                <a:moveTo>
                  <a:pt x="0" y="0"/>
                </a:moveTo>
                <a:lnTo>
                  <a:pt x="3085838" y="0"/>
                </a:lnTo>
                <a:lnTo>
                  <a:pt x="3085838" y="5727502"/>
                </a:lnTo>
                <a:lnTo>
                  <a:pt x="0" y="57275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1867358"/>
            <a:ext cx="3090894" cy="5725179"/>
          </a:xfrm>
          <a:custGeom>
            <a:avLst/>
            <a:gdLst/>
            <a:ahLst/>
            <a:cxnLst/>
            <a:rect r="r" b="b" t="t" l="l"/>
            <a:pathLst>
              <a:path h="5725179" w="3090894">
                <a:moveTo>
                  <a:pt x="0" y="0"/>
                </a:moveTo>
                <a:lnTo>
                  <a:pt x="3090894" y="0"/>
                </a:lnTo>
                <a:lnTo>
                  <a:pt x="3090894" y="5725180"/>
                </a:lnTo>
                <a:lnTo>
                  <a:pt x="0" y="57251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88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33500" y="1172069"/>
            <a:ext cx="9449368" cy="6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4499" spc="1331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3656" y="2817582"/>
            <a:ext cx="11004216" cy="6578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NomDebts se presenta como una solución tecnológica sólida y pertinente, desarrollada bajo estándares disciplinarios propios de la ingeniería en informática. El proyecto logró integrar de manera efectiva componentes de frontend, backend y base de datos, aplicando una arquitectura clara y un proceso de trabajo ágil mediante SCRUM.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desarrollo alcanzó un producto funcional capaz de registrar y analizar información financiera, generar reportes, manejar recordatorios y entregar herramientas concretas para la planificación económica personal. De esta manera, el proyecto cumple con sus objetivos, demuestra viabilidad técnica y aporta valor real a usuarios que requieren una plataforma intuitiva y confiable para gestionar sus finanzas.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 NomDebts buscamos apoyar a chilenos y chilenas comunes y corrientes, como tú y como nosotros, entregándoles una herramienta simple, clara y accesible que facilite sus decisiones financieras del día a día. Nuestra meta es ayudar a construir un futuro más organizado, más consciente y, sobre todo, más libre de deudas.</a:t>
            </a:r>
          </a:p>
          <a:p>
            <a:pPr algn="l">
              <a:lnSpc>
                <a:spcPts val="3691"/>
              </a:lnSpc>
              <a:spcBef>
                <a:spcPct val="0"/>
              </a:spcBef>
            </a:pPr>
          </a:p>
          <a:p>
            <a:pPr algn="l">
              <a:lnSpc>
                <a:spcPts val="3691"/>
              </a:lnSpc>
              <a:spcBef>
                <a:spcPct val="0"/>
              </a:spcBef>
            </a:pPr>
          </a:p>
          <a:p>
            <a:pPr algn="l">
              <a:lnSpc>
                <a:spcPts val="3691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72889" y="431188"/>
            <a:ext cx="9674784" cy="9674784"/>
          </a:xfrm>
          <a:custGeom>
            <a:avLst/>
            <a:gdLst/>
            <a:ahLst/>
            <a:cxnLst/>
            <a:rect r="r" b="b" t="t" l="l"/>
            <a:pathLst>
              <a:path h="9674784" w="9674784">
                <a:moveTo>
                  <a:pt x="0" y="0"/>
                </a:moveTo>
                <a:lnTo>
                  <a:pt x="9674784" y="0"/>
                </a:lnTo>
                <a:lnTo>
                  <a:pt x="9674784" y="9674784"/>
                </a:lnTo>
                <a:lnTo>
                  <a:pt x="0" y="9674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DAG5JxpEprY</dc:identifier>
  <dcterms:modified xsi:type="dcterms:W3CDTF">2011-08-01T06:04:30Z</dcterms:modified>
  <cp:revision>1</cp:revision>
  <dc:title>Presentación Propuesta de proyecto Minimalista Verde</dc:title>
</cp:coreProperties>
</file>